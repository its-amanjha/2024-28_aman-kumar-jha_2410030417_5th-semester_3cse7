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0728655" cy="105156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02920"/>
            <a:ext cx="2338754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97680" y="5029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School of Computer Science and Engineering | Greater Noida Campus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B.Tech CSE Summer Internship Evaluation &amp; Technical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Full-Stack Web Application Development,</a:t>
            </a:r>
            <a:br/>
            <a:r>
              <a:t>n8n Automation &amp; Cloud Deployment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Engineering reactive edge web platforms, serverless backend microservices, and asynchronous event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5212080" cy="3108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CANDIDATE INFORMATION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Student Name: </a:t>
            </a:r>
            <a:r>
              <a:rPr b="1" sz="1150">
                <a:solidFill>
                  <a:srgbClr val="FFFFFF"/>
                </a:solidFill>
              </a:rPr>
              <a:t>Aman Kumar Jha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Enrollment / Roll No: </a:t>
            </a:r>
            <a:r>
              <a:rPr b="1" sz="1150">
                <a:solidFill>
                  <a:srgbClr val="FFFFFF"/>
                </a:solidFill>
              </a:rPr>
              <a:t>2410030417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Program &amp; Branch: </a:t>
            </a:r>
            <a:r>
              <a:rPr b="1" sz="1150">
                <a:solidFill>
                  <a:srgbClr val="FFFFFF"/>
                </a:solidFill>
              </a:rPr>
              <a:t>B.Tech Computer Science &amp; Engineering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Semester &amp; Section: </a:t>
            </a:r>
            <a:r>
              <a:rPr b="1" sz="1150">
                <a:solidFill>
                  <a:srgbClr val="FFFFFF"/>
                </a:solidFill>
              </a:rPr>
              <a:t>5th Semester | Section 3CSE7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Academic Batch: </a:t>
            </a:r>
            <a:r>
              <a:rPr b="1" sz="1150">
                <a:solidFill>
                  <a:srgbClr val="FFFFFF"/>
                </a:solidFill>
              </a:rPr>
              <a:t>Batch 2024–28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37560"/>
            <a:ext cx="5212080" cy="31089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2044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Segoe UI"/>
              </a:defRPr>
            </a:pPr>
            <a:r>
              <a:t>ORGANIZATION &amp; ROLE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Host Organization: </a:t>
            </a:r>
            <a:r>
              <a:rPr b="1" sz="1150">
                <a:solidFill>
                  <a:srgbClr val="FFFFFF"/>
                </a:solidFill>
              </a:rPr>
              <a:t>Zeta Galaxy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Industry Domain: </a:t>
            </a:r>
            <a:r>
              <a:rPr b="1" sz="1150">
                <a:solidFill>
                  <a:srgbClr val="FFFFFF"/>
                </a:solidFill>
              </a:rPr>
              <a:t>AI Solutions &amp; Full-Stack Automation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Official Designation: </a:t>
            </a:r>
            <a:r>
              <a:rPr b="1" sz="1150">
                <a:solidFill>
                  <a:srgbClr val="FFFFFF"/>
                </a:solidFill>
              </a:rPr>
              <a:t>Software &amp; Automation Engineer Intern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Internship Tenure: </a:t>
            </a:r>
            <a:r>
              <a:rPr b="1" sz="1150">
                <a:solidFill>
                  <a:srgbClr val="FFFFFF"/>
                </a:solidFill>
              </a:rPr>
              <a:t>1st June 2026 – 30th July 2026 (Summer 2026)</a:t>
            </a:r>
          </a:p>
          <a:p>
            <a:pPr>
              <a:spcBef>
                <a:spcPts val="450"/>
              </a:spcBef>
            </a:pPr>
            <a:r>
              <a:rPr b="1" sz="1150">
                <a:solidFill>
                  <a:srgbClr val="94A3B8"/>
                </a:solidFill>
              </a:rPr>
              <a:t>Host Location: </a:t>
            </a:r>
            <a:r>
              <a:rPr b="1" sz="1150">
                <a:solidFill>
                  <a:srgbClr val="FFFFFF"/>
                </a:solidFill>
              </a:rPr>
              <a:t>Samridhi Grand Avenue,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TABLE OF CONTENTS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Executive Presentation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Organization Profile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Zeta Galaxy domain, technology ecosystem &amp; intern role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Problem Statement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Industry challenges in deployments, latency &amp; manual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Project Objectives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Full-stack milestones, n8n workflows &amp; cloud hosting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73736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Tech Stack Architecture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Next.js 14, TypeScript, Node.js, n8n, PostgreSQL, Vercel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System Architecture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Multi-tier decoupled edge design and serverless functions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114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06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n8n Automation Engine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Event webhooks, asynchronous data pipelines &amp; triggers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07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CI/CD &amp; Cloud Delivery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Automated GitHub Actions, preview URLs &amp; Vercel CDN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931920"/>
            <a:ext cx="25603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41148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08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Key Outcomes &amp; Impact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Lighthouse 96+, sub-90s deploy time &amp; core learnings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COMPANY CONTEXT &amp; ROLE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Organization Profile: Zeta Galaxy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Trebuchet MS"/>
              </a:defRPr>
            </a:pPr>
            <a:r>
              <a:t>ABOUT ZETA GALAXY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Company Profile: </a:t>
            </a:r>
            <a:r>
              <a:rPr sz="1050">
                <a:solidFill>
                  <a:srgbClr val="334155"/>
                </a:solidFill>
              </a:rPr>
              <a:t>High-growth technology enterprise delivering modern web applications, AI-driven solutions, and automated cloud systems.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Headquarters: </a:t>
            </a:r>
            <a:r>
              <a:rPr sz="1050">
                <a:solidFill>
                  <a:srgbClr val="334155"/>
                </a:solidFill>
              </a:rPr>
              <a:t>Samridhi Grand Avenue, Greater Noida, Uttar Pradesh.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Core Engineering Focus: </a:t>
            </a:r>
            <a:r>
              <a:rPr sz="1050">
                <a:solidFill>
                  <a:srgbClr val="334155"/>
                </a:solidFill>
              </a:rPr>
              <a:t>Cloud-native architectures, low-code/node automation, reactive web applications, and serverless edge compute.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Engineering Standards: </a:t>
            </a:r>
            <a:r>
              <a:rPr sz="1050">
                <a:solidFill>
                  <a:srgbClr val="334155"/>
                </a:solidFill>
              </a:rPr>
              <a:t>Agile Scrum sprints, GitOps continuous delivery, automated unit/integration testing, and zero-downtime releases.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Trebuchet MS"/>
              </a:defRPr>
            </a:pPr>
            <a:r>
              <a:t>ROLE &amp; CORE RESPONSIBILITIES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Full-Stack Development: </a:t>
            </a:r>
            <a:r>
              <a:rPr sz="1050">
                <a:solidFill>
                  <a:srgbClr val="334155"/>
                </a:solidFill>
              </a:rPr>
              <a:t>Architecting responsive Next.js/React frontend interfaces with strict TypeScript typing and Tailwind styling.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Serverless Backend APIs: </a:t>
            </a:r>
            <a:r>
              <a:rPr sz="1050">
                <a:solidFill>
                  <a:srgbClr val="334155"/>
                </a:solidFill>
              </a:rPr>
              <a:t>Constructing RESTful API endpoints, JWT token authentication middleware, and Prisma ORM database layers.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n8n Workflow Automation: </a:t>
            </a:r>
            <a:r>
              <a:rPr sz="1050">
                <a:solidFill>
                  <a:srgbClr val="334155"/>
                </a:solidFill>
              </a:rPr>
              <a:t>Designing event-driven n8n automation pipelines for webhook listening, asynchronous data transformation, and alerts.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Continuous Cloud Delivery: </a:t>
            </a:r>
            <a:r>
              <a:rPr sz="1050">
                <a:solidFill>
                  <a:srgbClr val="334155"/>
                </a:solidFill>
              </a:rPr>
              <a:t>Managing CI/CD workflows via GitHub Actions and automated deployments to Vercel's global edge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OPERATIONAL BOTTLENECK ANALYSIS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Problem Statement &amp; Industry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Trebuchet MS"/>
              </a:defRPr>
            </a:pPr>
            <a:r>
              <a:t>01. Manual Deployment Friction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Deploying software via manual SSH sessions and unversioned server scripts caused release downtime, human error, and staging configuration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Trebuchet MS"/>
              </a:defRPr>
            </a:pPr>
            <a:r>
              <a:t>02. Repetitive Operational Overhead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Manual data synchronization, customer event dispatching, and notification routing consumed valuable engineering bandwidth and caused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Trebuchet MS"/>
              </a:defRPr>
            </a:pPr>
            <a:r>
              <a:t>03. Monolithic Latency &amp; Scaling Limits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Centralized server monoliths suffered from high latency for distributed users and lacked rapid autoscaling during traffic spikes.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Trebuchet MS"/>
              </a:defRPr>
            </a:pPr>
            <a:r>
              <a:t>04. Fragmented Quality Assurance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Absence of automated pull-request validation allowed untested code and regression bugs into production, elevating maintenance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KEY DELIVERABLES &amp; GOALS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Project Objectives &amp; Technical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  <a:latin typeface="Trebuchet MS"/>
              </a:rPr>
              <a:t>1. Modular Full-Stack Architecture: </a:t>
            </a:r>
            <a:r>
              <a:rPr sz="1100">
                <a:solidFill>
                  <a:srgbClr val="334155"/>
                </a:solidFill>
                <a:latin typeface="Segoe UI"/>
              </a:rPr>
              <a:t>Build responsive, accessible user interfaces in Next.js 14 &amp; React 18, paired with type-safe TypeScript interfaces and Tailwind CSS.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87168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9689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  <a:latin typeface="Trebuchet MS"/>
              </a:rPr>
              <a:t>2. Serverless Backend &amp; API Layer: </a:t>
            </a:r>
            <a:r>
              <a:rPr sz="1100">
                <a:solidFill>
                  <a:srgbClr val="334155"/>
                </a:solidFill>
                <a:latin typeface="Segoe UI"/>
              </a:rPr>
              <a:t>Develop structured REST API endpoints, JWT token authentication, and type-safe database queries via Prisma 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19856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958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  <a:latin typeface="Trebuchet MS"/>
              </a:rPr>
              <a:t>3. n8n Workflow Automation: </a:t>
            </a:r>
            <a:r>
              <a:rPr sz="1100">
                <a:solidFill>
                  <a:srgbClr val="334155"/>
                </a:solidFill>
                <a:latin typeface="Segoe UI"/>
              </a:rPr>
              <a:t>Orchestrate asynchronous webhook listeners, automated data transformations, and cross-platform notification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52544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6227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  <a:latin typeface="Trebuchet MS"/>
              </a:rPr>
              <a:t>4. Automated CI/CD Pipeline on Vercel: </a:t>
            </a:r>
            <a:r>
              <a:rPr sz="1100">
                <a:solidFill>
                  <a:srgbClr val="334155"/>
                </a:solidFill>
                <a:latin typeface="Segoe UI"/>
              </a:rPr>
              <a:t>Establish zero-downtime deployment pipelines with GitHub Actions and Vercel CLI for automated branch preview URLs and production rollouts.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85232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2563EB"/>
                </a:solidFill>
                <a:latin typeface="Trebuchet MS"/>
              </a:rPr>
              <a:t>5. Performance &amp; Core Web Vitals: </a:t>
            </a:r>
            <a:r>
              <a:rPr sz="1100">
                <a:solidFill>
                  <a:srgbClr val="334155"/>
                </a:solidFill>
                <a:latin typeface="Segoe UI"/>
              </a:rPr>
              <a:t>Optimize bundle size, leverage dynamic code splitting, and achieve 95+ Google Lighthouse scores across Core Web Vitals.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MULTI-TIER TECHNOLOGY SELECTION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Technology Stack &amp; Tooling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Frontend UI &amp; UX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Next.js 14 (App Router &amp; SSR)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React 18 &amp; TypeScript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Tailwind CSS &amp; Lucide Icons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Client / Server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1907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Trebuchet MS"/>
              </a:defRPr>
            </a:pPr>
            <a:r>
              <a:t>Backend &amp; APIs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Node.js &amp; Route Handlers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RESTful API Endpoints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JWT Authentication Middleware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Zod Data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55448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1907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Trebuchet MS"/>
              </a:defRPr>
            </a:pPr>
            <a:r>
              <a:t>Workflow Automation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n8n Workflow Engine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Event Webhook Listeners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REST API Connector Nodes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Asynchronous Pipelines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9651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rebuchet MS"/>
              </a:defRPr>
            </a:pPr>
            <a:r>
              <a:t>Database &amp; ORM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PostgreSQL Database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Prisma ORM Query Builder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Database Connection Pooling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Automated Schema Migrations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9651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Cloud &amp; Deployment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Vercel Global Edge Network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Serverless Edge Functions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Custom Domain Routing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Edge Caching &amp; ISR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393192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096512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Trebuchet MS"/>
              </a:defRPr>
            </a:pPr>
            <a:r>
              <a:t>DevOps &amp; Testing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GitHub Actions Workflows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Vercel CLI &amp; Bot Triggers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Jest &amp; React Testing Library</a:t>
            </a:r>
          </a:p>
          <a:p>
            <a:pPr>
              <a:spcBef>
                <a:spcPts val="35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ESLint &amp; Prettier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END-TO-END SYSTEM FLOW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System Architecture: Decoupled Edge Multi-Tier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Trebuchet MS"/>
              </a:rPr>
              <a:t>1. Presentation &amp; Edge Layer  </a:t>
            </a:r>
            <a:r>
              <a:rPr sz="1100">
                <a:solidFill>
                  <a:srgbClr val="94A3B8"/>
                </a:solidFill>
                <a:latin typeface="Segoe UI"/>
              </a:rPr>
              <a:t>[Next.js App Router | Vercel Global Edge CDN]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Routes static assets with sub-50ms latency; executes Edge Middleware for session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529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  <a:latin typeface="Trebuchet MS"/>
              </a:rPr>
              <a:t>2. Serverless API Layer  </a:t>
            </a:r>
            <a:r>
              <a:rPr sz="1100">
                <a:solidFill>
                  <a:srgbClr val="94A3B8"/>
                </a:solidFill>
                <a:latin typeface="Segoe UI"/>
              </a:rPr>
              <a:t>[Node.js Serverless Functions | REST Endpoints]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Stateless execution on-demand; scales automatically from 0 to thousands of instances.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Trebuchet MS"/>
              </a:rPr>
              <a:t>3. n8n Automation Engine  </a:t>
            </a:r>
            <a:r>
              <a:rPr sz="1100">
                <a:solidFill>
                  <a:srgbClr val="94A3B8"/>
                </a:solidFill>
                <a:latin typeface="Segoe UI"/>
              </a:rPr>
              <a:t>[Event Webhooks | Workflow Pipelines]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Asynchronously handles event dispatches, multi-step business logic, notifications &amp; third-party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303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Trebuchet MS"/>
              </a:rPr>
              <a:t>4. Data Persistence Layer  </a:t>
            </a:r>
            <a:r>
              <a:rPr sz="1100">
                <a:solidFill>
                  <a:srgbClr val="94A3B8"/>
                </a:solidFill>
                <a:latin typeface="Segoe UI"/>
              </a:rPr>
              <a:t>[PostgreSQL Cloud Database | Prisma ORM]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Type-safe relational storage with connection pooling, transactional consistency, and ACID guarantees.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EVENT-DRIVEN BACKEND ORCHESTRATION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n8n Workflow Automation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• Webhook Trigger Node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Listens for real-time application events (user actions, form submissions, state changes) via secure HTTP webhooks.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3736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• Data Transformation &amp; JSON Parsing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Extracts, validates, and normalizes payloads using JavaScript Code nodes and built-in n8n expressions.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• Multi-Service Orchestration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Coordinates actions across databases, notification services (Slack, Email, SMS), and external cloud APIs without server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• Error Catching &amp; Logging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Configured automated error-handling workflows to capture failed executions and send instant incident alerts to engineering channels.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AUTOMATED DELIVERY WORKFLOW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CI/CD &amp; Cloud Deployment on Vercel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Step 1: Local Development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Developers write code with TypeScript &amp; Tailwind CSS; pre-commit hooks verify linting and formatting.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529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Step 2: GitHub Actions CI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Pushing to GitHub triggers automated test suites (Jest) and type checks to block regression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Step 3: Preview Deployments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Every pull request generates an immutable preview URL for team review and end-to-end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303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Step 4: Production Release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Merging to the main branch triggers an atomic zero-downtime build deployed across Vercel's global CDN in &lt; 90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MEASURABLE METRICS &amp; PERFORMANCE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Key Results &amp; Quantitative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&lt; 90s</a:t>
            </a:r>
          </a:p>
          <a:p>
            <a:pPr algn="ctr">
              <a:spcBef>
                <a:spcPts val="1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Automated Build Time</a:t>
            </a:r>
          </a:p>
          <a:p>
            <a:pPr algn="ctr">
              <a:spcBef>
                <a:spcPts val="1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Continuous deployment to Vercel completed in under 90 seconds from merge.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96+</a:t>
            </a:r>
          </a:p>
          <a:p>
            <a:pPr algn="ctr">
              <a:spcBef>
                <a:spcPts val="1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Lighthouse Performance</a:t>
            </a:r>
          </a:p>
          <a:p>
            <a:pPr algn="ctr">
              <a:spcBef>
                <a:spcPts val="1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Exceptional Google Lighthouse Core Web Vitals score across all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100%</a:t>
            </a:r>
          </a:p>
          <a:p>
            <a:pPr algn="ctr">
              <a:spcBef>
                <a:spcPts val="1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Zero Manual Release</a:t>
            </a:r>
          </a:p>
          <a:p>
            <a:pPr algn="ctr">
              <a:spcBef>
                <a:spcPts val="1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Eliminated manual SSH deployments; 100% automated GitOps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603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Trebuchet MS"/>
              </a:defRPr>
            </a:pPr>
            <a:r>
              <a:t>&gt; 85%</a:t>
            </a:r>
          </a:p>
          <a:p>
            <a:pPr algn="ctr">
              <a:spcBef>
                <a:spcPts val="1200"/>
              </a:spcBef>
              <a:defRPr sz="1300" b="1">
                <a:solidFill>
                  <a:srgbClr val="0F172A"/>
                </a:solidFill>
                <a:latin typeface="Trebuchet MS"/>
              </a:defRPr>
            </a:pPr>
            <a:r>
              <a:t>Automated Test Coverage</a:t>
            </a:r>
          </a:p>
          <a:p>
            <a:pPr algn="ctr">
              <a:spcBef>
                <a:spcPts val="1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High test coverage across critical backend routes and core UI components.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TECHNICAL &amp; ENGINEERING SKILLS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  <a:latin typeface="Trebuchet MS"/>
              </a:defRPr>
            </a:pPr>
            <a:r>
              <a:t>Key Learnings &amp; Professional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6420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• Industry Full-Stack Engineering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Mastered server-side rendering, component-level state management, and edge middleware routing in production Next.js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529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• Event-Driven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Learned to decouple business logic from background tasks using n8n webhook pipelines, increasing application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• Production Cloud Delivery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Gained deep practical expertise in Vercel edge deployment, environment variable management, and GitOps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303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Trebuchet MS"/>
              </a:defRPr>
            </a:pPr>
            <a:r>
              <a:t>• Agile Team Collaboration</a:t>
            </a:r>
          </a:p>
          <a:p>
            <a:pPr>
              <a:spcBef>
                <a:spcPts val="3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Actively contributed to sprint planning, standups, code reviews, and issue tracking in a collaborative engineering culture.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Trebuchet MS"/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1800">
                <a:solidFill>
                  <a:srgbClr val="06B6D4"/>
                </a:solidFill>
                <a:latin typeface="Segoe UI"/>
              </a:defRPr>
            </a:pPr>
            <a:r>
              <a:t>Questions &amp; Technical Discussion</a:t>
            </a:r>
          </a:p>
          <a:p>
            <a:pPr algn="ctr">
              <a:spcBef>
                <a:spcPts val="2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Aman Kumar Jha | Roll No: 2410030417 | B.Tech CSE (Batch 2024–28, Section 3CSE7)</a:t>
            </a:r>
            <a:br/>
            <a:r>
              <a:t>School of Computer Science and Engineering, IILM University, Greater Noida</a:t>
            </a:r>
            <a:br/>
            <a:r>
              <a:t>Host Organization: Zeta Galaxy | Tenure: 1st June 2026 – 30th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